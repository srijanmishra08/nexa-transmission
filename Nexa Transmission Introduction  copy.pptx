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6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98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F6772F">
              <a:alpha val="8000"/>
            </a:srgbClr>
          </a:solidFill>
          <a:ln w="12700">
            <a:solidFill>
              <a:srgbClr val="F6772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640080"/>
            <a:ext cx="2011680" cy="2011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6772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4206240"/>
            <a:ext cx="1645920" cy="1645920"/>
          </a:xfrm>
          <a:prstGeom prst="ellipse">
            <a:avLst/>
          </a:prstGeom>
          <a:solidFill>
            <a:srgbClr val="F6772F">
              <a:alpha val="6000"/>
            </a:srgbClr>
          </a:solidFill>
          <a:ln w="9525">
            <a:solidFill>
              <a:srgbClr val="F6772F">
                <a:alpha val="20000"/>
              </a:srgbClr>
            </a:solidFill>
            <a:prstDash val="solid"/>
          </a:ln>
        </p:spPr>
      </p:sp>
      <p:pic>
        <p:nvPicPr>
          <p:cNvPr id="5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234440"/>
            <a:ext cx="4206240" cy="16888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3197607"/>
            <a:ext cx="1097280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8048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Gears for Heavy Industry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8340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•  Confidential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Raipur, Chhattisgarh,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INTRODUCTION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 precision gear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manufacturing &amp;</a:t>
            </a:r>
            <a:r>
              <a:rPr lang="en-US" sz="18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refurbishment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company.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4884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  •  RAIPUR, CHHATTISGARH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headquartered at the heart of India's heavy-industrial corridor — closest to the steel, cement, mining and power belts where demand for high-precision gears and refurbished gearboxes is deepest.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84632" y="3337560"/>
            <a:ext cx="1920240" cy="13716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4632" y="3337560"/>
            <a:ext cx="1920240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35204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7784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Mills, Melting Shops &amp; Pipe Mills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569464" y="3337560"/>
            <a:ext cx="1920240" cy="13716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569464" y="3337560"/>
            <a:ext cx="1920240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52044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569464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642616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Kilns, Mills &amp; Conveyors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654296" y="3337560"/>
            <a:ext cx="1920240" cy="13716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54296" y="3337560"/>
            <a:ext cx="1920240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392" y="352044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54296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727448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Crushers, Conveyors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739128" y="3337560"/>
            <a:ext cx="1920240" cy="13716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739128" y="3337560"/>
            <a:ext cx="1920240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352044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39128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812280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&amp; Auxiliary Drives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457200" y="4800600"/>
            <a:ext cx="8229600" cy="0"/>
          </a:xfrm>
          <a:prstGeom prst="rect">
            <a:avLst/>
          </a:prstGeom>
          <a:solidFill>
            <a:srgbClr val="F6772F"/>
          </a:solidFill>
          <a:ln w="9525">
            <a:solidFill>
              <a:srgbClr val="F6772F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864608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3232" y="48280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Refurbishment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core capability and the fastest-growing demand pocket across all four sectors.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FACILITY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 Gear Manufacturing Plant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shops under one roof — </a:t>
            </a:r>
            <a:r>
              <a:rPr lang="en-US" sz="15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forging to finished, inspected gear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without leaving the plant.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85900" y="2697480"/>
            <a:ext cx="6172200" cy="0"/>
          </a:xfrm>
          <a:prstGeom prst="line">
            <a:avLst/>
          </a:prstGeom>
          <a:noFill/>
          <a:ln w="19050">
            <a:solidFill>
              <a:srgbClr val="F6772F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48640" y="219456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88720" y="2395728"/>
            <a:ext cx="594360" cy="59436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06040" y="219456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2395728"/>
            <a:ext cx="594360" cy="59436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2395728"/>
            <a:ext cx="594360" cy="59436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720840" y="219456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60920" y="2395728"/>
            <a:ext cx="594360" cy="59436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15468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43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Shop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00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Turning, milling, hobbing,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&amp; shaft work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546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517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Treatment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6974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tempering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carburising</a:t>
            </a:r>
            <a:endParaRPr lang="en-US" sz="9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15468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091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Grinding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7548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form grinding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DIN-class accuracy</a:t>
            </a:r>
            <a:endParaRPr lang="en-US" sz="9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15468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665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Measuring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1228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CMM, gear inspection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metallurgical lab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walkthrough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each shop on the following four slides.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FACILITY  ·  MACHINE SHOP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Shop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Hobbing, boring, turning, milling, slotting, grinding, pressing &amp; cleaning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 one roof.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9164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7465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GEAR HOBBING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66928" y="193852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 Pfauter PE500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217627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Ø500  ·  Mod 12  ·  FW 350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Tailstock 1050 mm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121408" y="169164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69164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31136" y="17465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HOBBING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31136" y="193852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WMW ZFWZ 800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231136" y="217627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Ø800  ·  Mod 10  ·  FW 400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Tailstock 1000 mm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69164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69164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95344" y="17465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HOBBING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895344" y="193852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Donini A103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95344" y="217627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Ø1000  ·  Mod 12  ·  FW 700mm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Tailstock 1280 mm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449824" y="169164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9824" y="169164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59552" y="17465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BORING (DRO)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559552" y="1887897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Graffenstaden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76485" y="2125641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1350×1100mm ·  </a:t>
            </a:r>
            <a:b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1600mm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2000 mm ·  Y 1200mm  ·  Z 1000mm  ·  B 360°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114032" y="169164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169164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23760" y="17465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DRILL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223760" y="193852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Raboma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23760" y="217627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1460 mm  ·  Drill Ø75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Taper MT5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57200" y="272796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272796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27828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LATHE (DRO)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66928" y="2974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Colchester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6928" y="321259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Ø390  ·  Length 1270 mm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121408" y="272796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21408" y="272796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231136" y="27828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LATHE (DRO)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2231136" y="2974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231136" y="321259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Ø800  ·  Length 3500 mm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3785616" y="272796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85616" y="272796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95344" y="27828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KEYWAY MILLING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895344" y="2974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WMW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895344" y="321259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1000 mm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Keyway Ø up to 50 mm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5449824" y="272796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49824" y="272796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59552" y="27828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MILLING (DRO)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559552" y="2974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559552" y="321259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630mm  ·  Y 480mm  ·  Z 480 mm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7114032" y="272796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14032" y="272796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223760" y="27828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SLOTTING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223760" y="2974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Stanko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223760" y="321259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200mm  ·  Table Ø500mm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480mm  ·  Y 400 mm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457200" y="376428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" y="376428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6928" y="38191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GRINDING (DRO)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66928" y="40111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Chevalier (DRO)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566928" y="424891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400mm  ·  Y 400mm  ·  Z 1000 mm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2121408" y="376428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121408" y="376428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231136" y="38191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OD/ID GRINDING (DRO)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2231136" y="40111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(DRO)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2231136" y="424891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Ø300mm  ·  Grinding L 1200 mm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3785616" y="376428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785616" y="376428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895344" y="38191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PRESS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3895344" y="40111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1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3895344" y="424891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Ton capacity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5449824" y="376428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449824" y="376428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59552" y="38191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PRESS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559552" y="40111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2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5559552" y="424891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Ton capacity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7114032" y="3764280"/>
            <a:ext cx="157276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114032" y="3764280"/>
            <a:ext cx="45720" cy="944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223760" y="38191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WASHING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7223760" y="40111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Machine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7223760" y="4248912"/>
            <a:ext cx="140817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Ø 1200 mm</a:t>
            </a:r>
            <a:endParaRPr lang="en-US" sz="750" dirty="0"/>
          </a:p>
        </p:txBody>
      </p:sp>
      <p:sp>
        <p:nvSpPr>
          <p:cNvPr id="82" name="Shape 79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Shop  ·  Shop 1 of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FACILITY  ·  HEAT TREATMENT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Treatment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equipped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SCADA-controlled hardening, quenching, tempering &amp; in-house metallurgical lab.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916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562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9613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8745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234440" y="20848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System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24963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process automation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&amp; data logging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61360" y="16916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61360" y="16916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44240" y="18562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396" y="196138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38600" y="18745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CARBURISING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038600" y="20848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Carburising Furnace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44240" y="24963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Ø1200  ·  Depth 1600 mm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1050°C  ·  Load 2 Ton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65520" y="16916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65520" y="16916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48400" y="18562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556" y="19613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2760" y="18745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QUENCHING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842760" y="20848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Tank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48400" y="24963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Ø2800  ·  Depth 2400 mm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15,000 Litres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2918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2918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34564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3561588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34747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234440" y="36850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Tank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40080" y="40965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Ø1400  ·  Depth 2700 mm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Equipped with surface skimmer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261360" y="32918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261360" y="32918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444240" y="34564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396" y="356158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038600" y="34747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TEMPERING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4038600" y="36850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Tempering Furnace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3444240" y="40965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Ø1200  ·  Depth 1600 mm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600°C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065520" y="3291840"/>
            <a:ext cx="2621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065520" y="3291840"/>
            <a:ext cx="45720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248400" y="3456432"/>
            <a:ext cx="502920" cy="50292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556" y="3561588"/>
            <a:ext cx="292608" cy="2926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842760" y="347472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LAB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6842760" y="3685032"/>
            <a:ext cx="175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Metallurgical Lab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6248400" y="4096512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Hardness, microstructure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case-depth verification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Treatment  ·  Shop 2 of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FACILITY  ·  GEAR GRINDING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Grinding Shop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by our flagship CNC gear grinder </a:t>
            </a:r>
            <a:r>
              <a:rPr lang="en-US" sz="11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first for Central India.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6995160" y="1325880"/>
            <a:ext cx="1600200" cy="1600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0" y="1252728"/>
            <a:ext cx="3108960" cy="32918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  <a:effectLst>
            <a:outerShdw blurRad="76200" dist="127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13350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70448" y="12527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CENTRAL INDIA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16916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HÖFLER HELIX 700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82296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GEAR GRINDING MACHINE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26480" y="1673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4–5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6126480" y="2313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accuracy class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3017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84632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46704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grinding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66160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3529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balancing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85616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centering for series production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05072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1520" y="3968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Counter-holder with various tips</a:t>
            </a:r>
            <a:endParaRPr lang="en-US" sz="10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24528"/>
            <a:ext cx="146304" cy="14630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31520" y="4187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RESY oil preparation system</a:t>
            </a:r>
            <a:endParaRPr lang="en-US" sz="10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43984"/>
            <a:ext cx="146304" cy="14630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1520" y="4407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mist extraction</a:t>
            </a:r>
            <a:endParaRPr lang="en-US" sz="10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663440"/>
            <a:ext cx="146304" cy="14630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31520" y="4626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MAHR measuring device</a:t>
            </a:r>
            <a:endParaRPr lang="en-US" sz="1050" dirty="0"/>
          </a:p>
        </p:txBody>
      </p:sp>
      <p:sp>
        <p:nvSpPr>
          <p:cNvPr id="33" name="Shape 21"/>
          <p:cNvSpPr/>
          <p:nvPr/>
        </p:nvSpPr>
        <p:spPr>
          <a:xfrm>
            <a:off x="4846320" y="3310128"/>
            <a:ext cx="3840480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5010912" y="3310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6675120" y="331012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mm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5010912" y="36210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6675120" y="362102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8" name="Shape 26"/>
          <p:cNvSpPr/>
          <p:nvPr/>
        </p:nvSpPr>
        <p:spPr>
          <a:xfrm>
            <a:off x="4846320" y="3931920"/>
            <a:ext cx="3840480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5010912" y="3931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Angle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6675120" y="39319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45°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5010912" y="4242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Width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6675120" y="42428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mm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4846320" y="4553712"/>
            <a:ext cx="3840480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501091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Tailstock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6675120" y="455371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1050 mm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Grinding  ·  Shop 3 of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FACILITY  ·  TESTING &amp; MEASURING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Measuring Shop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33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by our Höfler EMZ 632 CMM </a:t>
            </a:r>
            <a:r>
              <a:rPr lang="en-US" sz="11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first for Central India.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7490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71600"/>
            <a:ext cx="73152" cy="246888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2834640" y="2468880"/>
            <a:ext cx="1280160" cy="1280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1508760"/>
            <a:ext cx="3108960" cy="292608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157276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1508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CENTRAL INDIA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31520" y="1901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HÖFLER EMZ 632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731520" y="24323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4-AXIS CNC GEAR PROFILE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731520" y="25968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MACHINE (CMM)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31520" y="2880360"/>
            <a:ext cx="914400" cy="0"/>
          </a:xfrm>
          <a:prstGeom prst="line">
            <a:avLst/>
          </a:prstGeom>
          <a:noFill/>
          <a:ln w="19050">
            <a:solidFill>
              <a:srgbClr val="F6772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520" y="2907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31520" y="3136392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148840" y="3136392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630 mm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1520" y="331012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148840" y="3310128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20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" y="348386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Width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148840" y="3483864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365760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Tailstock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148840" y="3657600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1050 mm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89120" y="1371600"/>
            <a:ext cx="4297680" cy="713232"/>
          </a:xfrm>
          <a:prstGeom prst="rect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5179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92040" y="1463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ANY GEAR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9204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pressure angle · helix angle — captured from any unknown gear.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0" y="2221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CAPABILITIES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505456"/>
            <a:ext cx="146304" cy="1463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63440" y="24688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Flank · Pitch · Runout</a:t>
            </a:r>
            <a:endParaRPr lang="en-US" sz="10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724912"/>
            <a:ext cx="146304" cy="14630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663440" y="26883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internal gears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944368"/>
            <a:ext cx="146304" cy="14630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663440" y="29077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 DIN, AGMA &amp; other standards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4389120" y="3291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SOFTWARE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4389120" y="3538728"/>
            <a:ext cx="1371600" cy="38404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4462272" y="35387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Gear Profile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5852160" y="3538728"/>
            <a:ext cx="1371600" cy="38404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5925312" y="35387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Gear Profile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7315200" y="3538728"/>
            <a:ext cx="1371600" cy="384048"/>
          </a:xfrm>
          <a:prstGeom prst="rect">
            <a:avLst/>
          </a:prstGeom>
          <a:solidFill>
            <a:srgbClr val="F6772F"/>
          </a:solidFill>
          <a:ln w="9525">
            <a:solidFill>
              <a:srgbClr val="F6772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7388352" y="35387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Gear Profile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457200" y="3977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TESTING &amp; FINISHING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57200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57200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50" y="4343400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93776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Gauge</a:t>
            </a:r>
            <a:endParaRPr lang="en-US" sz="850" dirty="0"/>
          </a:p>
        </p:txBody>
      </p:sp>
      <p:sp>
        <p:nvSpPr>
          <p:cNvPr id="49" name="Text 39"/>
          <p:cNvSpPr/>
          <p:nvPr/>
        </p:nvSpPr>
        <p:spPr>
          <a:xfrm>
            <a:off x="493776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1000 mm</a:t>
            </a:r>
            <a:endParaRPr lang="en-US" sz="700" dirty="0"/>
          </a:p>
        </p:txBody>
      </p:sp>
      <p:sp>
        <p:nvSpPr>
          <p:cNvPr id="50" name="Shape 40"/>
          <p:cNvSpPr/>
          <p:nvPr/>
        </p:nvSpPr>
        <p:spPr>
          <a:xfrm>
            <a:off x="1643307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643307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0057" y="4343400"/>
            <a:ext cx="219456" cy="21945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679883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Gauge</a:t>
            </a:r>
            <a:endParaRPr lang="en-US" sz="850" dirty="0"/>
          </a:p>
        </p:txBody>
      </p:sp>
      <p:sp>
        <p:nvSpPr>
          <p:cNvPr id="54" name="Text 43"/>
          <p:cNvSpPr/>
          <p:nvPr/>
        </p:nvSpPr>
        <p:spPr>
          <a:xfrm>
            <a:off x="1679883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400 mm</a:t>
            </a:r>
            <a:endParaRPr lang="en-US" sz="700" dirty="0"/>
          </a:p>
        </p:txBody>
      </p:sp>
      <p:sp>
        <p:nvSpPr>
          <p:cNvPr id="55" name="Shape 44"/>
          <p:cNvSpPr/>
          <p:nvPr/>
        </p:nvSpPr>
        <p:spPr>
          <a:xfrm>
            <a:off x="2829415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2829415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165" y="4343400"/>
            <a:ext cx="219456" cy="21945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2865991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Micrometers</a:t>
            </a:r>
            <a:endParaRPr lang="en-US" sz="850" dirty="0"/>
          </a:p>
        </p:txBody>
      </p:sp>
      <p:sp>
        <p:nvSpPr>
          <p:cNvPr id="59" name="Text 47"/>
          <p:cNvSpPr/>
          <p:nvPr/>
        </p:nvSpPr>
        <p:spPr>
          <a:xfrm>
            <a:off x="2865991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range</a:t>
            </a:r>
            <a:endParaRPr lang="en-US" sz="700" dirty="0"/>
          </a:p>
        </p:txBody>
      </p:sp>
      <p:sp>
        <p:nvSpPr>
          <p:cNvPr id="60" name="Shape 48"/>
          <p:cNvSpPr/>
          <p:nvPr/>
        </p:nvSpPr>
        <p:spPr>
          <a:xfrm>
            <a:off x="4015522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4015522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2272" y="4343400"/>
            <a:ext cx="219456" cy="219456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4052098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Verniers</a:t>
            </a:r>
            <a:endParaRPr lang="en-US" sz="850" dirty="0"/>
          </a:p>
        </p:txBody>
      </p:sp>
      <p:sp>
        <p:nvSpPr>
          <p:cNvPr id="64" name="Text 51"/>
          <p:cNvSpPr/>
          <p:nvPr/>
        </p:nvSpPr>
        <p:spPr>
          <a:xfrm>
            <a:off x="4052098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1000 mm</a:t>
            </a:r>
            <a:endParaRPr lang="en-US" sz="700" dirty="0"/>
          </a:p>
        </p:txBody>
      </p:sp>
      <p:sp>
        <p:nvSpPr>
          <p:cNvPr id="65" name="Shape 52"/>
          <p:cNvSpPr/>
          <p:nvPr/>
        </p:nvSpPr>
        <p:spPr>
          <a:xfrm>
            <a:off x="5201630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5201630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8379" y="4343400"/>
            <a:ext cx="219456" cy="219456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5238206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Run Bench</a:t>
            </a:r>
            <a:endParaRPr lang="en-US" sz="850" dirty="0"/>
          </a:p>
        </p:txBody>
      </p:sp>
      <p:sp>
        <p:nvSpPr>
          <p:cNvPr id="69" name="Text 55"/>
          <p:cNvSpPr/>
          <p:nvPr/>
        </p:nvSpPr>
        <p:spPr>
          <a:xfrm>
            <a:off x="5238206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+ Motors</a:t>
            </a:r>
            <a:endParaRPr lang="en-US" sz="700" dirty="0"/>
          </a:p>
        </p:txBody>
      </p:sp>
      <p:sp>
        <p:nvSpPr>
          <p:cNvPr id="70" name="Shape 56"/>
          <p:cNvSpPr/>
          <p:nvPr/>
        </p:nvSpPr>
        <p:spPr>
          <a:xfrm>
            <a:off x="6387737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6387737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4487" y="4343400"/>
            <a:ext cx="219456" cy="219456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6424313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</a:t>
            </a:r>
            <a:endParaRPr lang="en-US" sz="850" dirty="0"/>
          </a:p>
        </p:txBody>
      </p:sp>
      <p:sp>
        <p:nvSpPr>
          <p:cNvPr id="74" name="Text 59"/>
          <p:cNvSpPr/>
          <p:nvPr/>
        </p:nvSpPr>
        <p:spPr>
          <a:xfrm>
            <a:off x="6424313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finishing</a:t>
            </a:r>
            <a:endParaRPr lang="en-US" sz="700" dirty="0"/>
          </a:p>
        </p:txBody>
      </p:sp>
      <p:sp>
        <p:nvSpPr>
          <p:cNvPr id="75" name="Shape 60"/>
          <p:cNvSpPr/>
          <p:nvPr/>
        </p:nvSpPr>
        <p:spPr>
          <a:xfrm>
            <a:off x="7573845" y="4251960"/>
            <a:ext cx="1112955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7573845" y="4251960"/>
            <a:ext cx="1112955" cy="365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7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0594" y="4343400"/>
            <a:ext cx="219456" cy="219456"/>
          </a:xfrm>
          <a:prstGeom prst="rect">
            <a:avLst/>
          </a:prstGeom>
        </p:spPr>
      </p:pic>
      <p:sp>
        <p:nvSpPr>
          <p:cNvPr id="78" name="Text 62"/>
          <p:cNvSpPr/>
          <p:nvPr/>
        </p:nvSpPr>
        <p:spPr>
          <a:xfrm>
            <a:off x="7610421" y="4581144"/>
            <a:ext cx="10398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Blasting</a:t>
            </a:r>
            <a:endParaRPr lang="en-US" sz="850" dirty="0"/>
          </a:p>
        </p:txBody>
      </p:sp>
      <p:sp>
        <p:nvSpPr>
          <p:cNvPr id="79" name="Text 63"/>
          <p:cNvSpPr/>
          <p:nvPr/>
        </p:nvSpPr>
        <p:spPr>
          <a:xfrm>
            <a:off x="7610421" y="4709160"/>
            <a:ext cx="10398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prep</a:t>
            </a:r>
            <a:endParaRPr lang="en-US" sz="700" dirty="0"/>
          </a:p>
        </p:txBody>
      </p:sp>
      <p:sp>
        <p:nvSpPr>
          <p:cNvPr id="80" name="Shape 6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1" name="Text 6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82" name="Text 6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Measuring  ·  Shop 4 of 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ENGINEERING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Capabilities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design-to-validation pipeline </a:t>
            </a:r>
            <a:r>
              <a:rPr lang="en-US" sz="12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entirely in-house.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4023360" cy="71323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81328"/>
            <a:ext cx="54864" cy="713232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627632"/>
            <a:ext cx="420624" cy="420624"/>
          </a:xfrm>
          <a:prstGeom prst="ellipse">
            <a:avLst/>
          </a:prstGeom>
          <a:solidFill>
            <a:srgbClr val="F6772F">
              <a:alpha val="15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7099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1600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DESIGN TEAM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70432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design engineer on every project — from concept to drawing release.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1481328"/>
            <a:ext cx="4023360" cy="71323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63440" y="1481328"/>
            <a:ext cx="54864" cy="713232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46320" y="1627632"/>
            <a:ext cx="420624" cy="420624"/>
          </a:xfrm>
          <a:prstGeom prst="ellipse">
            <a:avLst/>
          </a:prstGeom>
          <a:solidFill>
            <a:srgbClr val="F6772F">
              <a:alpha val="15000"/>
            </a:srgbClr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17099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76672" y="1600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76672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any gear from a sample — geometry captured, validated &amp; manufactured to spec.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2304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SYSTEMS &amp; CERTIFICATIONS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542032"/>
            <a:ext cx="195453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2542032"/>
            <a:ext cx="45720" cy="5029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66547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2596896"/>
            <a:ext cx="1378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SYSTEMS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60120" y="2798064"/>
            <a:ext cx="13784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Plant-wide automation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548890" y="2542032"/>
            <a:ext cx="195453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548890" y="2542032"/>
            <a:ext cx="45720" cy="5029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482" y="266547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051810" y="2596896"/>
            <a:ext cx="1378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051810" y="2798064"/>
            <a:ext cx="13784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640580" y="2542032"/>
            <a:ext cx="195453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40580" y="2542032"/>
            <a:ext cx="45720" cy="5029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665476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43500" y="2596896"/>
            <a:ext cx="1378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14001:2015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143500" y="2798064"/>
            <a:ext cx="13784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6732270" y="2542032"/>
            <a:ext cx="195453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732270" y="2542032"/>
            <a:ext cx="45720" cy="5029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862" y="2665476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35190" y="2596896"/>
            <a:ext cx="1378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45001:2018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235190" y="2798064"/>
            <a:ext cx="13784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457200" y="3200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DESIGN-TO-MEASURE SOFTWARE STACK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57200" y="3456432"/>
            <a:ext cx="186537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7200" y="3456432"/>
            <a:ext cx="1865376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48640" y="35478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DESIGN</a:t>
            </a:r>
            <a:endParaRPr lang="en-US" sz="9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152" y="3767328"/>
            <a:ext cx="347472" cy="34747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30352" y="416966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CalC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30352" y="451713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calculation &amp; sizing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 rot="5400000">
            <a:off x="2368296" y="4005072"/>
            <a:ext cx="164592" cy="182880"/>
          </a:xfrm>
          <a:prstGeom prst="rtTriangl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2578608" y="3456432"/>
            <a:ext cx="186537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2578608" y="3456432"/>
            <a:ext cx="1865376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2670048" y="35478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CAD / CAM</a:t>
            </a:r>
            <a:endParaRPr lang="en-US" sz="9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767328"/>
            <a:ext cx="347472" cy="34747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651760" y="416966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Autodesk Manufacturing</a:t>
            </a:r>
            <a:endParaRPr lang="en-US" sz="10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CAM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2651760" y="451713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toolpath programming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 rot="5400000">
            <a:off x="4489704" y="4005072"/>
            <a:ext cx="164592" cy="182880"/>
          </a:xfrm>
          <a:prstGeom prst="rtTriangl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4700016" y="3456432"/>
            <a:ext cx="186537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4700016" y="3456432"/>
            <a:ext cx="1865376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4791456" y="35478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CAE</a:t>
            </a:r>
            <a:endParaRPr lang="en-US" sz="9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8968" y="3767328"/>
            <a:ext cx="347472" cy="347472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4773168" y="416966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CAE</a:t>
            </a:r>
            <a:endParaRPr lang="en-US" sz="1000" dirty="0"/>
          </a:p>
        </p:txBody>
      </p:sp>
      <p:sp>
        <p:nvSpPr>
          <p:cNvPr id="60" name="Text 48"/>
          <p:cNvSpPr/>
          <p:nvPr/>
        </p:nvSpPr>
        <p:spPr>
          <a:xfrm>
            <a:off x="4773168" y="451713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contact analysis</a:t>
            </a:r>
            <a:endParaRPr lang="en-US" sz="800" dirty="0"/>
          </a:p>
        </p:txBody>
      </p:sp>
      <p:sp>
        <p:nvSpPr>
          <p:cNvPr id="61" name="Shape 49"/>
          <p:cNvSpPr/>
          <p:nvPr/>
        </p:nvSpPr>
        <p:spPr>
          <a:xfrm rot="5400000">
            <a:off x="6611112" y="4005072"/>
            <a:ext cx="164592" cy="182880"/>
          </a:xfrm>
          <a:prstGeom prst="rtTriangl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6821424" y="3456432"/>
            <a:ext cx="186537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3" name="Shape 51"/>
          <p:cNvSpPr/>
          <p:nvPr/>
        </p:nvSpPr>
        <p:spPr>
          <a:xfrm>
            <a:off x="6821424" y="3456432"/>
            <a:ext cx="1865376" cy="54864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6912864" y="35478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MEASURE</a:t>
            </a:r>
            <a:endParaRPr lang="en-US" sz="9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0376" y="3767328"/>
            <a:ext cx="347472" cy="347472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6894576" y="416966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Klingelnberg</a:t>
            </a:r>
            <a:endParaRPr lang="en-US" sz="1000" dirty="0"/>
          </a:p>
        </p:txBody>
      </p:sp>
      <p:sp>
        <p:nvSpPr>
          <p:cNvPr id="67" name="Text 54"/>
          <p:cNvSpPr/>
          <p:nvPr/>
        </p:nvSpPr>
        <p:spPr>
          <a:xfrm>
            <a:off x="6894576" y="451713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inspection software</a:t>
            </a:r>
            <a:endParaRPr lang="en-US" sz="800" dirty="0"/>
          </a:p>
        </p:txBody>
      </p:sp>
      <p:sp>
        <p:nvSpPr>
          <p:cNvPr id="68" name="Shape 5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70" name="Text 57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Capabilities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004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BUSINESS DIVISIONS</a:t>
            </a:r>
            <a:endParaRPr lang="en-US" sz="1000" dirty="0"/>
          </a:p>
        </p:txBody>
      </p:sp>
      <p:pic>
        <p:nvPicPr>
          <p:cNvPr id="4" name="Image 0" descr="/home/claude/nex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"/>
            <a:ext cx="1371600" cy="550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Divisions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Nexa goes to market — </a:t>
            </a:r>
            <a:r>
              <a:rPr lang="en-US" sz="1300" b="1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revenue streams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heavy industry.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4014216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691640"/>
            <a:ext cx="54864" cy="14081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56232"/>
            <a:ext cx="457200" cy="45720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187452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1892808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2404872"/>
            <a:ext cx="36484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2468880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drop-in replacement of any-make, any-application industrial gearbox.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898648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 ·  Cement  ·  Mining  ·  Power  ·  Others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72584" y="1691640"/>
            <a:ext cx="4014216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72584" y="1691640"/>
            <a:ext cx="54864" cy="14081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55464" y="1856232"/>
            <a:ext cx="457200" cy="45720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55464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04104" y="187452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CATALOG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892808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55464" y="2404872"/>
            <a:ext cx="36484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55464" y="2468880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range of standard gearboxes &amp; spares — engineered, ready to ship.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855464" y="2898648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 heavy-industry end-users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300984"/>
            <a:ext cx="4014216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300984"/>
            <a:ext cx="54864" cy="14081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188720" y="3483864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REFURBISHMENT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496" y="3502152"/>
            <a:ext cx="329184" cy="32918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40080" y="4014216"/>
            <a:ext cx="36484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4078224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overhaul of industrial gearboxes — strip-down, repair &amp; rebuild.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40080" y="4507992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make  ·  Any application  ·  Any size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672584" y="3300984"/>
            <a:ext cx="4014216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72584" y="3300984"/>
            <a:ext cx="54864" cy="1408176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855464" y="3465576"/>
            <a:ext cx="457200" cy="457200"/>
          </a:xfrm>
          <a:prstGeom prst="ellipse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55464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404104" y="3483864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SALES</a:t>
            </a:r>
            <a:endParaRPr lang="en-US" sz="18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3502152"/>
            <a:ext cx="329184" cy="329184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855464" y="4014216"/>
            <a:ext cx="36484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855464" y="4078224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gearboxes, spares &amp; precision services supplied to industrial OEMs.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855464" y="4507992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  ·  Power  ·  Pumps  ·  Cranes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Divisions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F6772F">
              <a:alpha val="12000"/>
            </a:srgbClr>
          </a:solidFill>
          <a:ln w="12700">
            <a:solidFill>
              <a:srgbClr val="F6772F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640080"/>
            <a:ext cx="2011680" cy="2011680"/>
          </a:xfrm>
          <a:prstGeom prst="ellipse">
            <a:avLst/>
          </a:prstGeom>
          <a:solidFill>
            <a:srgbClr val="1F2937"/>
          </a:solidFill>
          <a:ln w="9525">
            <a:solidFill>
              <a:srgbClr val="F6772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4206240"/>
            <a:ext cx="1645920" cy="1645920"/>
          </a:xfrm>
          <a:prstGeom prst="ellipse">
            <a:avLst/>
          </a:prstGeom>
          <a:solidFill>
            <a:srgbClr val="F6772F">
              <a:alpha val="8000"/>
            </a:srgbClr>
          </a:solidFill>
          <a:ln w="9525">
            <a:solidFill>
              <a:srgbClr val="F6772F">
                <a:alpha val="30000"/>
              </a:srgbClr>
            </a:solidFill>
            <a:prstDash val="solid"/>
          </a:ln>
        </p:spPr>
      </p:sp>
      <p:pic>
        <p:nvPicPr>
          <p:cNvPr id="5" name="Image 0" descr="/home/claude/nexa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594360"/>
            <a:ext cx="2377440" cy="9545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4023360" y="3154680"/>
            <a:ext cx="1097280" cy="45720"/>
          </a:xfrm>
          <a:prstGeom prst="rect">
            <a:avLst/>
          </a:prstGeom>
          <a:solidFill>
            <a:srgbClr val="F6772F"/>
          </a:solidFill>
          <a:ln w="12700">
            <a:solidFill>
              <a:srgbClr val="F677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6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Gears for Heavy Industry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chapter starts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F677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TRANSMISSION LLP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Raipur, Chhattisgarh, India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1036</Words>
  <Application>Microsoft Macintosh PowerPoint</Application>
  <PresentationFormat>On-screen Show (16:9)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Nexa Transmission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 Transmission - Sales &amp; Service Orientation</dc:title>
  <dc:subject>PptxGenJS Presentation</dc:subject>
  <dc:creator>Kabir, CEO - Nexa Transmission LLP</dc:creator>
  <cp:lastModifiedBy>Kabir Arora</cp:lastModifiedBy>
  <cp:revision>12</cp:revision>
  <dcterms:created xsi:type="dcterms:W3CDTF">2026-04-28T09:22:32Z</dcterms:created>
  <dcterms:modified xsi:type="dcterms:W3CDTF">2026-04-29T08:30:01Z</dcterms:modified>
</cp:coreProperties>
</file>